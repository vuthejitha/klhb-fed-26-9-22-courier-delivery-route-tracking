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sp>
        <p:nvSpPr>
          <p:cNvPr id="900" name="Logo Backing"/>
          <p:cNvSpPr/>
          <p:nvPr userDrawn="1"/>
        </p:nvSpPr>
        <p:spPr>
          <a:xfrm>
            <a:off x="45720" y="45720"/>
            <a:ext cx="1250000" cy="7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sp>
        <p:nvSpPr>
          <p:cNvPr id="901" name="Header Band"/>
          <p:cNvSpPr/>
          <p:nvPr userDrawn="1"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B3552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00" name="Logo Backing"/>
          <p:cNvSpPr/>
          <p:nvPr userDrawn="1"/>
        </p:nvSpPr>
        <p:spPr>
          <a:xfrm>
            <a:off x="45720" y="45720"/>
            <a:ext cx="1250000" cy="79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FFFFFF"/>
                </a:solidFill>
              </a:rPr>
              <a:t>Courier Delivery Route &amp; Tracking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spcAft>
                <a:spcPts val="200"/>
              </a:spcAft>
              <a:buNone/>
            </a:pPr>
            <a:r>
              <a:rPr lang="en-IN" sz="2400" b="1" dirty="0">
                <a:solidFill>
                  <a:srgbClr val="FFFFFF"/>
                </a:solidFill>
              </a:rPr>
              <a:t>V. Uthejitha  –  2620080041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lang="en-IN" sz="2400" b="1" dirty="0">
                <a:solidFill>
                  <a:srgbClr val="FFFFFF"/>
                </a:solidFill>
              </a:rPr>
              <a:t>L. Manasa Pranavi  –  2620030500</a:t>
            </a:r>
          </a:p>
          <a:p>
            <a:pPr marL="0" indent="0" algn="ctr">
              <a:spcAft>
                <a:spcPts val="500"/>
              </a:spcAft>
              <a:buNone/>
            </a:pPr>
            <a:r>
              <a:rPr lang="en-IN" sz="2400" b="1" dirty="0">
                <a:solidFill>
                  <a:srgbClr val="FFFFFF"/>
                </a:solidFill>
              </a:rPr>
              <a:t>D. Bhavyashree  –  2620080023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IN" sz="2000" b="0" dirty="0">
                <a:solidFill>
                  <a:srgbClr val="8FD8D2"/>
                </a:solidFill>
              </a:rPr>
              <a:t>Java Programming  |  Project-Based Learning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10515600" cy="3108960"/>
          </a:xfrm>
        </p:spPr>
        <p:txBody>
          <a:bodyPr/>
          <a:lstStyle/>
          <a:p>
            <a:pPr marL="0" indent="0">
              <a:spcAft>
                <a:spcPts val="1000"/>
              </a:spcAft>
              <a:buNone/>
            </a:pPr>
            <a:r>
              <a:rPr lang="en-IN" sz="2600" b="0" dirty="0">
                <a:solidFill>
                  <a:srgbClr val="FFFFFF"/>
                </a:solidFill>
              </a:rPr>
              <a:t>The Courier Delivery Route and Tracking System is a Java console application that manages courier deliveries end to end. Users enter courier and customer details, assign a delivery route, generate a unique courier ID, update the delivery status at each stage, and search any courier by ID.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IN" sz="2600" b="0" dirty="0">
                <a:solidFill>
                  <a:srgbClr val="FFFFFF"/>
                </a:solidFill>
              </a:rPr>
              <a:t>It is a learning project: a compact, real-world problem (parcel tracking) used to practise classes, objects, arrays, control flow and Scanner-based input.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2</a:t>
            </a:fld>
            <a:endParaRPr lang="en-IN"/>
          </a:p>
        </p:txBody>
      </p:sp>
      <p:sp>
        <p:nvSpPr>
          <p:cNvPr id="101" name="Stat 1"/>
          <p:cNvSpPr/>
          <p:nvPr/>
        </p:nvSpPr>
        <p:spPr>
          <a:xfrm>
            <a:off x="841248" y="4754880"/>
            <a:ext cx="2423160" cy="1280160"/>
          </a:xfrm>
          <a:prstGeom prst="roundRect">
            <a:avLst>
              <a:gd name="adj" fmla="val 6000"/>
            </a:avLst>
          </a:prstGeom>
          <a:solidFill>
            <a:srgbClr val="1B3552"/>
          </a:solidFill>
          <a:ln>
            <a:noFill/>
          </a:ln>
        </p:spPr>
        <p:txBody>
          <a:bodyPr wrap="square" lIns="201168" tIns="160934" rIns="201168" bIns="160934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3600" b="1" dirty="0">
                <a:solidFill>
                  <a:srgbClr val="8FD8D2"/>
                </a:solidFill>
              </a:rPr>
              <a:t>Java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IN" sz="1800" b="0" dirty="0">
                <a:solidFill>
                  <a:srgbClr val="FFFFFF"/>
                </a:solidFill>
              </a:rPr>
              <a:t>Core language</a:t>
            </a:r>
          </a:p>
        </p:txBody>
      </p:sp>
      <p:sp>
        <p:nvSpPr>
          <p:cNvPr id="102" name="Stat 2"/>
          <p:cNvSpPr/>
          <p:nvPr/>
        </p:nvSpPr>
        <p:spPr>
          <a:xfrm>
            <a:off x="3538728" y="4754880"/>
            <a:ext cx="2423160" cy="1280160"/>
          </a:xfrm>
          <a:prstGeom prst="roundRect">
            <a:avLst>
              <a:gd name="adj" fmla="val 6000"/>
            </a:avLst>
          </a:prstGeom>
          <a:solidFill>
            <a:srgbClr val="1B3552"/>
          </a:solidFill>
          <a:ln>
            <a:noFill/>
          </a:ln>
        </p:spPr>
        <p:txBody>
          <a:bodyPr wrap="square" lIns="201168" tIns="160934" rIns="201168" bIns="160934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3600" b="1" dirty="0">
                <a:solidFill>
                  <a:srgbClr val="8FD8D2"/>
                </a:solidFill>
              </a:rPr>
              <a:t>Console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IN" sz="1800" b="0" dirty="0">
                <a:solidFill>
                  <a:srgbClr val="FFFFFF"/>
                </a:solidFill>
              </a:rPr>
              <a:t>Scanner-based UI</a:t>
            </a:r>
          </a:p>
        </p:txBody>
      </p:sp>
      <p:sp>
        <p:nvSpPr>
          <p:cNvPr id="103" name="Stat 3"/>
          <p:cNvSpPr/>
          <p:nvPr/>
        </p:nvSpPr>
        <p:spPr>
          <a:xfrm>
            <a:off x="6236208" y="4754880"/>
            <a:ext cx="2423160" cy="1280160"/>
          </a:xfrm>
          <a:prstGeom prst="roundRect">
            <a:avLst>
              <a:gd name="adj" fmla="val 6000"/>
            </a:avLst>
          </a:prstGeom>
          <a:solidFill>
            <a:srgbClr val="1B3552"/>
          </a:solidFill>
          <a:ln>
            <a:noFill/>
          </a:ln>
        </p:spPr>
        <p:txBody>
          <a:bodyPr wrap="square" lIns="201168" tIns="160934" rIns="201168" bIns="160934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3600" b="1" dirty="0">
                <a:solidFill>
                  <a:srgbClr val="8FD8D2"/>
                </a:solidFill>
              </a:rPr>
              <a:t>5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IN" sz="1800" b="0" dirty="0">
                <a:solidFill>
                  <a:srgbClr val="FFFFFF"/>
                </a:solidFill>
              </a:rPr>
              <a:t>Delivery status stages</a:t>
            </a:r>
          </a:p>
        </p:txBody>
      </p:sp>
      <p:sp>
        <p:nvSpPr>
          <p:cNvPr id="104" name="Stat 4"/>
          <p:cNvSpPr/>
          <p:nvPr/>
        </p:nvSpPr>
        <p:spPr>
          <a:xfrm>
            <a:off x="8933688" y="4754880"/>
            <a:ext cx="2423160" cy="1280160"/>
          </a:xfrm>
          <a:prstGeom prst="roundRect">
            <a:avLst>
              <a:gd name="adj" fmla="val 6000"/>
            </a:avLst>
          </a:prstGeom>
          <a:solidFill>
            <a:srgbClr val="1B3552"/>
          </a:solidFill>
          <a:ln>
            <a:noFill/>
          </a:ln>
        </p:spPr>
        <p:txBody>
          <a:bodyPr wrap="square" lIns="201168" tIns="160934" rIns="201168" bIns="160934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IN" sz="3600" b="1" dirty="0">
                <a:solidFill>
                  <a:srgbClr val="8FD8D2"/>
                </a:solidFill>
              </a:rPr>
              <a:t>Git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IN" sz="1800" b="0" dirty="0">
                <a:solidFill>
                  <a:srgbClr val="FFFFFF"/>
                </a:solidFill>
              </a:rPr>
              <a:t>Version controlled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6400800" cy="4754880"/>
          </a:xfrm>
        </p:spPr>
        <p:txBody>
          <a:bodyPr/>
          <a:lstStyle/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Parcels are often tracked by hand, which is slow and error-prone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Without a unique ID, finding one courier record is difficult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Route and current status are not kept in one place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Customers cannot easily check where their parcel 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3</a:t>
            </a:fld>
            <a:endParaRPr lang="en-IN"/>
          </a:p>
        </p:txBody>
      </p:sp>
      <p:sp>
        <p:nvSpPr>
          <p:cNvPr id="105" name="Courier Link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Our Objectives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Store courier and customer details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Assign a delivery route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Generate a unique courier ID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Update status at every stage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Search and display by courier ID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CO 1 – 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6400800" cy="4754880"/>
          </a:xfrm>
        </p:spPr>
        <p:txBody>
          <a:bodyPr/>
          <a:lstStyle/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JDK setup; javac and java commands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Data types and variables: int, float, char, boolean, String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Variable scope: local, instance and static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Operators: arithmetic, relational, logical, ternary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Scanner input and printf formatted output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Decisions: if-else, nested if, switch-case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Loops: for, while, do-while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4</a:t>
            </a:fld>
            <a:endParaRPr lang="en-IN"/>
          </a:p>
        </p:txBody>
      </p:sp>
      <p:sp>
        <p:nvSpPr>
          <p:cNvPr id="106" name="Courier Link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In the Courier System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Integer courier ID; String sender and receiver names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Scanner reads courier details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switch menu: add, update, search, display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if-else validates input and picks the status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Loops keep the menu running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CO 2 – Object-Oriented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6400800" cy="4754880"/>
          </a:xfrm>
        </p:spPr>
        <p:txBody>
          <a:bodyPr/>
          <a:lstStyle/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Objects: state (fields) and behavior (methods)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Classes as blueprints; creating objects with new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Constructors to initialize objects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this keyword and method overloading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Static vs non-static members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Access specifiers: private, protected, public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Modularization of logic into small methods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5</a:t>
            </a:fld>
            <a:endParaRPr lang="en-IN"/>
          </a:p>
        </p:txBody>
      </p:sp>
      <p:sp>
        <p:nvSpPr>
          <p:cNvPr id="107" name="Courier Link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In the Courier System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Courier class holds ID, sender, receiver, pickup, delivery area and status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Constructor builds each record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Methods: add, update status, display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Array of Courier objects stores all records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CO 3 – Inheritance &amp;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6400800" cy="4754880"/>
          </a:xfrm>
        </p:spPr>
        <p:txBody>
          <a:bodyPr/>
          <a:lstStyle/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Inheritance and its types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Method overriding and the super keyword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Polymorphism: overloading and overriding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Abstract classes and abstract methods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Interfaces and implementing them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Choosing an abstract class or an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6</a:t>
            </a:fld>
            <a:endParaRPr lang="en-IN"/>
          </a:p>
        </p:txBody>
      </p:sp>
      <p:sp>
        <p:nvSpPr>
          <p:cNvPr id="108" name="Courier Link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Fit with the Courier System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ExpressCourier and StandardCourier can extend Courier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Overridden charge calculation per courier type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A Trackable interface with updateStatus() and getStatus()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CO 4 – Exception Handling &amp; File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6400800" cy="4754880"/>
          </a:xfrm>
        </p:spPr>
        <p:txBody>
          <a:bodyPr/>
          <a:lstStyle/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Exceptions: try, catch, finally, throw, throws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Checked and unchecked exceptions; the Throwable hierarchy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Custom exceptions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Byte and character streams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FileReader, FileWriter, BufferedReader, BufferedWriter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7</a:t>
            </a:fld>
            <a:endParaRPr lang="en-IN"/>
          </a:p>
        </p:txBody>
      </p:sp>
      <p:sp>
        <p:nvSpPr>
          <p:cNvPr id="109" name="Courier Link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Fit with the Courier System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Catch InputMismatchException on wrong input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Custom exception when a courier ID is not found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Save and reload courier records from a text file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CO 5 – Generics &amp;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6400800" cy="4754880"/>
          </a:xfrm>
        </p:spPr>
        <p:txBody>
          <a:bodyPr/>
          <a:lstStyle/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Generics: type-safe classes and methods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Wrapper classes and autoboxing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Collections framework: List, Set, Queue, Map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ArrayList, HashSet, HashMap, PriorityQueue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8</a:t>
            </a:fld>
            <a:endParaRPr lang="en-IN"/>
          </a:p>
        </p:txBody>
      </p:sp>
      <p:sp>
        <p:nvSpPr>
          <p:cNvPr id="110" name="Courier Link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Fit with the Courier System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ArrayList of Courier replaces the fixed array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HashMap keyed by courier ID for fast search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Queue for pending pickups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CO 6 – Lambda, Streams &amp;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6400800" cy="4754880"/>
          </a:xfrm>
        </p:spPr>
        <p:txBody>
          <a:bodyPr/>
          <a:lstStyle/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Reflection API: inspect classes and methods at runtime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Lambda expressions and functional interfaces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Streams API: filter, map, collect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Design patterns: Strategy, Factory, Singleton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9</a:t>
            </a:fld>
            <a:endParaRPr lang="en-IN"/>
          </a:p>
        </p:txBody>
      </p:sp>
      <p:sp>
        <p:nvSpPr>
          <p:cNvPr id="111" name="Courier Link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Fit with the Courier System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Stream filter lists couriers that are Out for Delivery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Lambda sorts couriers by ID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Factory creates courier types; Strategy picks the delivery charge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25880"/>
            <a:ext cx="6400800" cy="4754880"/>
          </a:xfrm>
        </p:spPr>
        <p:txBody>
          <a:bodyPr/>
          <a:lstStyle/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A compact console system that manages courier records, routes and delivery status end to end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Covers the full lifecycle: ID generation, route assignment, status updates and search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Maps Java concepts from CO 1 to CO 6 onto one real-world tracking problem</a:t>
            </a:r>
          </a:p>
          <a:p>
            <a:pPr marL="285750" indent="-285750">
              <a:spcAft>
                <a:spcPts val="7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600" b="0" dirty="0">
                <a:solidFill>
                  <a:srgbClr val="FFFFFF"/>
                </a:solidFill>
              </a:rPr>
              <a:t>Simple to use, cuts manual tracking and keeps courier information organized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10</a:t>
            </a:fld>
            <a:endParaRPr lang="en-IN"/>
          </a:p>
        </p:txBody>
      </p:sp>
      <p:sp>
        <p:nvSpPr>
          <p:cNvPr id="112" name="Courier Link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Future Enhancements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Login for users and agents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Database connectivity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GPS-based live tracking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GUI and web-based tracking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Route optimization and estimated delivery time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Screen Shots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11</a:t>
            </a:fld>
            <a:endParaRPr lang="en-IN"/>
          </a:p>
        </p:txBody>
      </p:sp>
      <p:sp>
        <p:nvSpPr>
          <p:cNvPr id="113" name="Console Output"/>
          <p:cNvSpPr/>
          <p:nvPr/>
        </p:nvSpPr>
        <p:spPr>
          <a:xfrm>
            <a:off x="841248" y="1325880"/>
            <a:ext cx="6400800" cy="4754880"/>
          </a:xfrm>
          <a:prstGeom prst="roundRect">
            <a:avLst>
              <a:gd name="adj" fmla="val 3000"/>
            </a:avLst>
          </a:prstGeom>
          <a:solidFill>
            <a:srgbClr val="0A1828"/>
          </a:solidFill>
          <a:ln>
            <a:noFill/>
          </a:ln>
        </p:spPr>
        <p:txBody>
          <a:bodyPr wrap="square" lIns="256032" tIns="204826" rIns="256032" bIns="204826" anchor="t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IN" sz="1400" b="0" dirty="0">
                <a:solidFill>
                  <a:srgbClr val="8FD8D2"/>
                </a:solidFill>
                <a:latin typeface="Calibri"/>
                <a:cs typeface="Calibri"/>
              </a:rPr>
              <a:t>Sample console output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$ java CourierTracker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===== Courier Details =====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Courier ID    : C101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Sender        : Rahul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Receiver      : Anil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Pickup        : Hyderabad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Delivery Area : Secunderabad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Route         : Hyderabad -&gt; Bowenpally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                -&gt; Secunderabad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IN" sz="1800" b="0" dirty="0">
                <a:solidFill>
                  <a:srgbClr val="E8E8E8"/>
                </a:solidFill>
                <a:latin typeface="Courier New"/>
                <a:cs typeface="Courier New"/>
              </a:rPr>
              <a:t>Status        : Out for Delivery</a:t>
            </a:r>
          </a:p>
        </p:txBody>
      </p:sp>
      <p:sp>
        <p:nvSpPr>
          <p:cNvPr id="114" name="Status Journey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Delivery Status Journey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IN" sz="2600" b="0" dirty="0">
                <a:solidFill>
                  <a:srgbClr val="1E2A38"/>
                </a:solidFill>
              </a:rPr>
              <a:t>1   Order Placed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IN" sz="2600" b="0" dirty="0">
                <a:solidFill>
                  <a:srgbClr val="1E2A38"/>
                </a:solidFill>
              </a:rPr>
              <a:t>2   Picked Up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IN" sz="2600" b="0" dirty="0">
                <a:solidFill>
                  <a:srgbClr val="1E2A38"/>
                </a:solidFill>
              </a:rPr>
              <a:t>3   In Transit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IN" sz="2600" b="1" dirty="0">
                <a:solidFill>
                  <a:srgbClr val="1FA39A"/>
                </a:solidFill>
              </a:rPr>
              <a:t>4   Out for Delivery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IN" sz="2600" b="0" dirty="0">
                <a:solidFill>
                  <a:srgbClr val="1E2A38"/>
                </a:solidFill>
              </a:rPr>
              <a:t>5   Delivered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91440"/>
            <a:ext cx="10241280" cy="777240"/>
          </a:xfrm>
        </p:spPr>
        <p:txBody>
          <a:bodyPr anchor="ctr"/>
          <a:lstStyle/>
          <a:p>
            <a:r>
              <a:rPr lang="en-IN" sz="4000" b="1" dirty="0">
                <a:solidFill>
                  <a:srgbClr val="FFFFFF"/>
                </a:solidFill>
              </a:rPr>
              <a:t>Geo Tag Photo and GitHub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>
                <a:solidFill>
                  <a:srgbClr val="B8C2CC"/>
                </a:solidFill>
              </a:rPr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>
                <a:solidFill>
                  <a:srgbClr val="B8C2CC"/>
                </a:solidFill>
              </a:rPr>
              <a:t>12</a:t>
            </a:fld>
            <a:endParaRPr lang="en-IN"/>
          </a:p>
        </p:txBody>
      </p:sp>
      <p:sp>
        <p:nvSpPr>
          <p:cNvPr id="115" name="Geo Tag Photo Frame"/>
          <p:cNvSpPr/>
          <p:nvPr/>
        </p:nvSpPr>
        <p:spPr>
          <a:xfrm>
            <a:off x="841248" y="1325880"/>
            <a:ext cx="6400800" cy="4754880"/>
          </a:xfrm>
          <a:prstGeom prst="roundRect">
            <a:avLst>
              <a:gd name="adj" fmla="val 6000"/>
            </a:avLst>
          </a:prstGeom>
          <a:solidFill>
            <a:srgbClr val="1B3552"/>
          </a:solidFill>
          <a:ln w="19050">
            <a:solidFill>
              <a:srgbClr val="1FA39A"/>
            </a:solidFill>
            <a:prstDash val="dash"/>
          </a:ln>
        </p:spPr>
        <p:txBody>
          <a:bodyPr wrap="square" lIns="201168" tIns="160934" rIns="201168" bIns="160934" anchor="ctr">
            <a:no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IN" sz="2400" b="1" dirty="0">
                <a:solidFill>
                  <a:srgbClr val="FFFFFF"/>
                </a:solidFill>
              </a:rPr>
              <a:t>Geo-Tagged Team Photo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IN" sz="2000" b="0" dirty="0">
                <a:solidFill>
                  <a:srgbClr val="8FD8D2"/>
                </a:solidFill>
              </a:rPr>
              <a:t>Add the geo-tagged photo of the team here</a:t>
            </a:r>
          </a:p>
        </p:txBody>
      </p:sp>
      <p:sp>
        <p:nvSpPr>
          <p:cNvPr id="116" name="GitHub Card"/>
          <p:cNvSpPr/>
          <p:nvPr/>
        </p:nvSpPr>
        <p:spPr>
          <a:xfrm>
            <a:off x="7498080" y="1325880"/>
            <a:ext cx="3858768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5DCE3"/>
            </a:solidFill>
          </a:ln>
        </p:spPr>
        <p:txBody>
          <a:bodyPr wrap="square" lIns="201168" tIns="160934" rIns="201168" bIns="160934" anchor="t">
            <a:no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IN" sz="2400" b="1" dirty="0">
                <a:solidFill>
                  <a:srgbClr val="1FA39A"/>
                </a:solidFill>
              </a:rPr>
              <a:t>GitHub Repository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Project: Courier Delivery Route &amp; Tracking System</a:t>
            </a:r>
          </a:p>
          <a:p>
            <a:pPr marL="285750" indent="-285750">
              <a:spcAft>
                <a:spcPts val="60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1E2A38"/>
                </a:solidFill>
              </a:rPr>
              <a:t>Language: Java</a:t>
            </a:r>
          </a:p>
          <a:p>
            <a:pPr marL="285750" indent="-285750">
              <a:spcAft>
                <a:spcPts val="0"/>
              </a:spcAft>
              <a:buClr>
                <a:srgbClr val="1FA39A"/>
              </a:buClr>
              <a:buFont typeface="Arial"/>
              <a:buChar char="•"/>
            </a:pPr>
            <a:r>
              <a:rPr lang="en-IN" sz="2000" b="0" dirty="0">
                <a:solidFill>
                  <a:srgbClr val="5B6B7C"/>
                </a:solidFill>
              </a:rPr>
              <a:t>Add the repository link here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Lolabattu Manasa Pranavi</cp:lastModifiedBy>
  <cp:revision>2</cp:revision>
  <dcterms:created xsi:type="dcterms:W3CDTF">2026-09-15T09:57:10Z</dcterms:created>
  <dcterms:modified xsi:type="dcterms:W3CDTF">2026-10-15T13:30:14Z</dcterms:modified>
</cp:coreProperties>
</file>